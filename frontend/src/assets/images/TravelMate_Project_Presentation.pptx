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2" r:id="rId11"/>
    <p:sldId id="261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4660"/>
  </p:normalViewPr>
  <p:slideViewPr>
    <p:cSldViewPr snapToGrid="0" snapToObjects="1">
      <p:cViewPr>
        <p:scale>
          <a:sx n="60" d="100"/>
          <a:sy n="60" d="100"/>
        </p:scale>
        <p:origin x="1080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928468"/>
            <a:ext cx="10362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E3A5F"/>
                </a:solidFill>
                <a:latin typeface="Calibri"/>
              </a:defRPr>
            </a:pPr>
            <a:r>
              <a:t>TravelMate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07102"/>
            <a:ext cx="1036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97316"/>
                </a:solidFill>
                <a:latin typeface="Calibri"/>
              </a:defRPr>
            </a:pPr>
            <a:r>
              <a:t>A Web-Based Travel Assistance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94892"/>
            <a:ext cx="10362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787878"/>
                </a:solidFill>
                <a:latin typeface="Calibri"/>
              </a:defRPr>
            </a:pPr>
            <a:r>
              <a:t>Explore India, Experience Wonder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2006"/>
            <a:ext cx="10362895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>
                <a:solidFill>
                  <a:srgbClr val="505050"/>
                </a:solidFill>
                <a:latin typeface="Calibri"/>
              </a:defRPr>
            </a:pPr>
            <a:r>
              <a:t>Project Report Submitted in Partial Fulfillment of MCA Degree</a:t>
            </a:r>
          </a:p>
          <a:p>
            <a:pPr algn="ctr">
              <a:spcAft>
                <a:spcPts val="200"/>
              </a:spcAft>
              <a:defRPr sz="1000">
                <a:solidFill>
                  <a:srgbClr val="505050"/>
                </a:solidFill>
                <a:latin typeface="Calibri"/>
              </a:defRPr>
            </a:pPr>
            <a:endParaRPr/>
          </a:p>
          <a:p>
            <a:pPr algn="ctr"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Submitted By:</a:t>
            </a:r>
          </a:p>
          <a:p>
            <a:pPr algn="ctr"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Subhajit Halder  |  Subhendu Dutta Banik  |  Sanam Pandit  |  Sneha Dey  |  Tanusree Jana</a:t>
            </a:r>
          </a:p>
          <a:p>
            <a:pPr algn="ctr">
              <a:spcAft>
                <a:spcPts val="200"/>
              </a:spcAft>
              <a:defRPr sz="800">
                <a:solidFill>
                  <a:srgbClr val="505050"/>
                </a:solidFill>
                <a:latin typeface="Calibri"/>
              </a:defRPr>
            </a:pPr>
            <a:endParaRPr/>
          </a:p>
          <a:p>
            <a:pPr algn="ctr">
              <a:spcAft>
                <a:spcPts val="200"/>
              </a:spcAft>
              <a:defRPr sz="1600">
                <a:solidFill>
                  <a:srgbClr val="1E3A5F"/>
                </a:solidFill>
                <a:latin typeface="Calibri"/>
              </a:defRPr>
            </a:pPr>
            <a:r>
              <a:t>Under the Guidance of: Mr. Anindya Mukherjee</a:t>
            </a:r>
          </a:p>
          <a:p>
            <a:pPr algn="ctr">
              <a:spcAft>
                <a:spcPts val="200"/>
              </a:spcAft>
              <a:defRPr sz="1400">
                <a:solidFill>
                  <a:srgbClr val="646464"/>
                </a:solidFill>
                <a:latin typeface="Calibri"/>
              </a:defRPr>
            </a:pPr>
            <a:r>
              <a:t>Techno Main Salt Lake | Maulana Abul Kalam Azad University of Technology</a:t>
            </a:r>
          </a:p>
          <a:p>
            <a:pPr algn="ctr">
              <a:spcAft>
                <a:spcPts val="200"/>
              </a:spcAft>
              <a:defRPr sz="1600">
                <a:solidFill>
                  <a:srgbClr val="F97316"/>
                </a:solidFill>
                <a:latin typeface="Calibri"/>
              </a:defRPr>
            </a:pPr>
            <a:r>
              <a:t>2025 –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Overview of the TravelMate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TravelMate is a web-based travel assistance platform designed to help users discover destinations and attractions across India.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It provides a structured, user-friendly interface for accessing travel-related information, managing profiles, and interacting through reviews.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The application follows a client-server architecture with React frontend, Spring Boot backend, and MySQL database.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Includes an administrative area for authorized administrators to manage destinations, attractions, reviews, and users.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Role-based access control ensures secure administrative operations with password hashing for user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Objectives &amp; Scope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What TravelMate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439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Provide a centralized platform for discovering destinations and attractions across India.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Offer a simple, responsive interface for travel-related information and profile management.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Enable registered users to create profiles, save favorites, and submit reviews.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Provide administrators with tools to manage destinations, attractions, reviews, and users.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Implement role-based access control and secure password storage using Password Encoder.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Demonstrate practical use of REST APIs and modern full-stack development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Tools &amp; 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3A5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React.js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Responsive UI Design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Axios / API Client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Component-Based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Spring Boot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RESTful APIs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Spring Data / Repository Layer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Password Encoder (BCrypt)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8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8B22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MySQL (MariaDB 10.4.32)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Relational Data Storage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Foreign Key Constraints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• InnoDB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Client-Server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0" y="1554480"/>
            <a:ext cx="3657600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User / Admin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675120" y="2194560"/>
            <a:ext cx="365760" cy="18288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0" y="2377440"/>
            <a:ext cx="3657600" cy="640080"/>
          </a:xfrm>
          <a:prstGeom prst="round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React Frontend</a:t>
            </a:r>
          </a:p>
        </p:txBody>
      </p:sp>
      <p:sp>
        <p:nvSpPr>
          <p:cNvPr id="9" name="Down Arrow 8"/>
          <p:cNvSpPr/>
          <p:nvPr/>
        </p:nvSpPr>
        <p:spPr>
          <a:xfrm>
            <a:off x="6675120" y="3017520"/>
            <a:ext cx="365760" cy="18288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0" y="3200400"/>
            <a:ext cx="365760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REST API (HTTP)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675120" y="3840480"/>
            <a:ext cx="365760" cy="18288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4023360"/>
            <a:ext cx="3657600" cy="640080"/>
          </a:xfrm>
          <a:prstGeom prst="round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Spring Boot Backend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675120" y="4663440"/>
            <a:ext cx="365760" cy="18288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4846320"/>
            <a:ext cx="3657600" cy="64008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Repository / Data Access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675120" y="5486400"/>
            <a:ext cx="365760" cy="182880"/>
          </a:xfrm>
          <a:prstGeom prst="down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0" y="5669280"/>
            <a:ext cx="3657600" cy="640080"/>
          </a:xfrm>
          <a:prstGeom prst="roundRect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MySQL Database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F6934EF4-B44E-40BA-9266-68B2C4B703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2002350"/>
                  </p:ext>
                </p:extLst>
              </p:nvPr>
            </p:nvGraphicFramePr>
            <p:xfrm>
              <a:off x="-3689684" y="1193741"/>
              <a:ext cx="3048000" cy="1714500"/>
            </p:xfrm>
            <a:graphic>
              <a:graphicData uri="http://schemas.microsoft.com/office/powerpoint/2016/slidezoom">
                <pslz:sldZm>
                  <pslz:sldZmObj sldId="260" cId="0">
                    <pslz:zmPr id="{3CE966A9-0D58-4FF9-8791-58F33E62D1F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8" name="Slide Zoom 1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6934EF4-B44E-40BA-9266-68B2C4B703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3689684" y="119374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Flow Diagram – Level 0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Context Diagram – User &amp; Admin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2454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6" name="Picture 5" descr="dfd 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174"/>
            <a:ext cx="12192000" cy="5719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Flow Diagram – Level 1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Top-Level Decomposition of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fd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572"/>
            <a:ext cx="12191695" cy="5710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DFD Level 2 – User Processes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Detailed User-Side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fd 2 us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192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DFD Level 2 – Admin Processes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rPr dirty="0"/>
              <a:t>Detailed Admin-Side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fd 2 adm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191695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Schema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MySQL Relational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966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743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80467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  id, email, name, password,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743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destinations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57400"/>
            <a:ext cx="80467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  id, name, state, description, best_time, budget, image_url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2743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attractions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651760"/>
            <a:ext cx="80467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  id, name, location, entry_fee, image_url, lat, lng, destination_id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2743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246120"/>
            <a:ext cx="80467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  id, comment, rating, user_id, destination_id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2743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favorites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840480"/>
            <a:ext cx="80467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33333"/>
                </a:solidFill>
                <a:latin typeface="Calibri"/>
              </a:defRPr>
            </a:pPr>
            <a:r>
              <a:t>  id, user_id, destination_id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destinations 1:M attractions (One destination has many attractions)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users 1:M reviews (One user can write many reviews)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destinations 1:M reviews (One destination can receive many reviews)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users 1:M favorites (One user can save many favorite destinations)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Passwords stored with BCrypt hashing ($2a$10$...)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Database Design – ER Diagram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Entity Relationship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7572"/>
            <a:ext cx="12191695" cy="5710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 Case Diagram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User &amp; Admin Use Cases in TravelMate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 cas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192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Functional Flowchart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System Flow – From Login to Logout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7" name="Picture 3" descr="C:\Users\User\Downloads\project images\diagrams\activity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3723" y="1097280"/>
            <a:ext cx="10656277" cy="5760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User Module Features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End-User Functionalities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966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User Registration with email validation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Secure Login with BCrypt password verification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Email availability checking before registration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Forgot Password with OTP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Browse &amp; search destinations by name or state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View detailed destination information (budget, best time, state)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Explore associated attractions with images &amp; descriptions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Interactive route map with distance &amp; driving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Calibri"/>
              </a:defRPr>
            </a:pPr>
            <a:r>
              <a:t>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Add / Remove favorite destinations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Submit reviews &amp; star ratings (one per destination)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View traveler reviews from other users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Open attractions directly in Google Maps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40233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5F"/>
                </a:solidFill>
                <a:latin typeface="Calibri"/>
              </a:defRPr>
            </a:pPr>
            <a: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8912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View personal profile with name &amp; email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Update profile information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Manage saved favorites in one place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Personalized tour plan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Authentication Screens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Login Page  |  Registration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26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26_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Home &amp; Discover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Welcome Dashboard  |  Popular Destinations Carousel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27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27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Destination &amp; Attractions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Destination Detail (Darjeeling)  |  Attractions &amp;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29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29_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Tour Plan &amp; Interactive Map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Personali</a:t>
            </a:r>
            <a:r>
              <a:rPr lang="en-US" dirty="0"/>
              <a:t>s</a:t>
            </a:r>
            <a:r>
              <a:t>ed Tour Plan  |  Interactive Route Map (Leaflet)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8966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31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32_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Favorites &amp; Profile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My Favorites  |  My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33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33_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Admin Module Features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Administrative Control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042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463040"/>
            <a:ext cx="7772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1508760"/>
            <a:ext cx="7589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Overview statistics: Registered Users, Total Destinations, Total Attractions, Total Reviews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Quick access cards to all management sections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Dark-themed admin interface for better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User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926080"/>
            <a:ext cx="7772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971800"/>
            <a:ext cx="7589520" cy="1685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View all registered users with details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Delete user accounts with safety checks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Prevent admin self-deletion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Role-based access enforcement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  Content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4389120"/>
            <a:ext cx="77724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4434840"/>
            <a:ext cx="7589520" cy="1685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Add, Edit &amp; Delete Destinations (name, state, description, budget, best time, image)</a:t>
            </a:r>
            <a:endParaRPr lang="en-US" dirty="0"/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Add, Edit &amp; Delete Attractions (name, location, entry fee, coordinates, image)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Manage Reviews – view and delete inappropriate reviews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All changes persisted in MySQL database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Admin Dashboard &amp; Content Management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Admin Dashboard Overview  |  Content Management Cards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601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hatsApp_Image_2026-08-12_at_11.32.42_PM.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WhatsApp_Image_2026-08-12_at_11.33.12_PM.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More UI Screens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Forgot Password (OTP)  |  Attraction Detail (Tiger Hill)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26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31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Tour Sequence &amp; Attraction Details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Tour Sequence Steps  |  Route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avelmate_Mozilla_Firefox_12-08-2026_23_32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4572000"/>
          </a:xfrm>
          <a:prstGeom prst="rect">
            <a:avLst/>
          </a:prstGeom>
        </p:spPr>
      </p:pic>
      <p:pic>
        <p:nvPicPr>
          <p:cNvPr id="7" name="Picture 6" descr="travelmate_Mozilla_Firefox_12-08-2026_23_32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Testing &amp; Results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155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  Test ID          Test Case                                   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155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TC-01       Register with a new email                      User account created successfully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04872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TC-02       Register with an existing email                System returns conflict response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3784"/>
            <a:ext cx="11155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TC-03       Login with invalid credentials                 System returns unauthorized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82696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TC-04       Login with valid credentials                   User profile and role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21608"/>
            <a:ext cx="11155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67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TC-05       Non-admin requests all users                   System denies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TC-06       Admin deletes another user                     User deleted successfully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99432"/>
            <a:ext cx="111556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6451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TC-07       Admin attempts self-deletion                   Operation is rejected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38344"/>
            <a:ext cx="11155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084064"/>
            <a:ext cx="660110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Calibri"/>
              </a:defRPr>
            </a:pPr>
            <a:r>
              <a:t>TC-08       Update profile                                 </a:t>
            </a:r>
            <a:r>
              <a:rPr lang="en-US" dirty="0"/>
              <a:t>           </a:t>
            </a:r>
            <a:r>
              <a:t>Profile fields updated successfully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E3A5F"/>
                </a:solidFill>
                <a:latin typeface="Calibri"/>
              </a:defRPr>
            </a:pPr>
            <a:r>
              <a:t>Testing Methods: Unit Testing | Integration Testing | System Testing | Black Box Testing | Validation Testing</a:t>
            </a:r>
          </a:p>
          <a:p>
            <a:pPr>
              <a:spcAft>
                <a:spcPts val="600"/>
              </a:spcAft>
              <a:defRPr sz="1600" b="0">
                <a:solidFill>
                  <a:srgbClr val="F97316"/>
                </a:solidFill>
                <a:latin typeface="Calibri"/>
              </a:defRPr>
            </a:pPr>
            <a:r>
              <a:t>Security: Password hashing (BCrypt), Role-based authorization, Server-side validation, Email uniqueness checks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Future Scope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Potential Enhancements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01852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39" y="1147573"/>
            <a:ext cx="11283969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Online travel booking and reservation support (hotels, transport)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Transportation and itinerary management with calendar integration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Advanced map &amp; location services with GPS tracking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Personalized destination recommendations using ML/AI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Advanced search, filtering, and sorting capabilities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Push notifications and email services for trip reminders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Multi-factor authentication (MFA) and OTP verification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Social login integration (Google, Facebook, etc.)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Native mobile application support (Android/iOS)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Cloud deployment with scalable infrastructure (AWS/Azure)</a:t>
            </a:r>
          </a:p>
          <a:p>
            <a:pPr>
              <a:spcAft>
                <a:spcPts val="14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Analytics dashboard and administrative reporting</a:t>
            </a:r>
            <a:r>
              <a:rPr lang="en-US" dirty="0"/>
              <a:t> and Multilingual support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097280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1800">
                <a:solidFill>
                  <a:srgbClr val="C8D2E1"/>
                </a:solidFill>
                <a:latin typeface="Calibri"/>
              </a:defRPr>
            </a:pPr>
            <a:r>
              <a:t>Project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22860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551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TravelMate</a:t>
            </a:r>
            <a:r>
              <a:rPr dirty="0"/>
              <a:t> demonstrates the development of a modern web-based travel platform using </a:t>
            </a:r>
            <a:r>
              <a:t>industry-standard technologies.</a:t>
            </a:r>
            <a:r>
              <a:rPr lang="en-US" dirty="0"/>
              <a:t> 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The </a:t>
            </a:r>
            <a:r>
              <a:rPr dirty="0"/>
              <a:t>project successfully integrates a React frontend, Spring Boot backend, REST API communication, and MySQL database storage.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It addresses the need for centralized travel information and structured content management across Indian destinations.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Key features include user registration, profile management, destination discovery, favorites, reviews, and a comprehensive </a:t>
            </a:r>
            <a:r>
              <a:t>admin panel.</a:t>
            </a:r>
            <a:r>
              <a:rPr lang="en-US" dirty="0"/>
              <a:t> </a:t>
            </a:r>
            <a:r>
              <a:t>Security </a:t>
            </a:r>
            <a:r>
              <a:rPr dirty="0"/>
              <a:t>measures such as </a:t>
            </a:r>
            <a:r>
              <a:rPr dirty="0" err="1"/>
              <a:t>BCrypt</a:t>
            </a:r>
            <a:r>
              <a:rPr dirty="0"/>
              <a:t> password hashing and server-side role checks ensure a safe application environment.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The project showcases practical full-stack development: component-based UI design, RESTful communication, repository-based data access, and responsive interfaces.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With further development, </a:t>
            </a:r>
            <a:r>
              <a:rPr dirty="0" err="1"/>
              <a:t>TravelMate</a:t>
            </a:r>
            <a:r>
              <a:rPr dirty="0"/>
              <a:t> can evolve into a complete travel ecosystem with booking, itinerary planning, recommendations, and mobile support.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82639"/>
            <a:ext cx="103628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82968"/>
            <a:ext cx="1036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97316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934269"/>
            <a:ext cx="7589520" cy="2462213"/>
          </a:xfrm>
          <a:prstGeom prst="roundRect">
            <a:avLst/>
          </a:prstGeom>
          <a:solidFill>
            <a:srgbClr val="284164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2934269"/>
            <a:ext cx="722376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97316"/>
                </a:solidFill>
                <a:latin typeface="Calibri"/>
              </a:defRPr>
            </a:pPr>
            <a:r>
              <a:t>Project Team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Subhajit Halder  |  Subhendu Dutta Banik  |  Sanam Pandit  |  Sneha Dey  |  Tanusree Jana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Aft>
                <a:spcPts val="400"/>
              </a:spcAft>
              <a:defRPr sz="1800" b="0">
                <a:solidFill>
                  <a:srgbClr val="C8D2E1"/>
                </a:solidFill>
                <a:latin typeface="Calibri"/>
              </a:defRPr>
            </a:pPr>
            <a:r>
              <a:t>Guide: Mr. Anindya Mukherjee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B4BECD"/>
                </a:solidFill>
                <a:latin typeface="Calibri"/>
              </a:defRPr>
            </a:pPr>
            <a:r>
              <a:t>Techno Main Salt Lake, Kolkata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B4BECD"/>
                </a:solidFill>
                <a:latin typeface="Calibri"/>
              </a:defRPr>
            </a:pPr>
            <a:r>
              <a:t>Maulana Abul Kalam Azad University of Technology</a:t>
            </a:r>
            <a:r>
              <a:rPr lang="en-US" dirty="0"/>
              <a:t> 2025 – 2027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B4BECD"/>
                </a:solidFill>
                <a:latin typeface="Calibri"/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1313</Words>
  <Application>Microsoft Office PowerPoint</Application>
  <PresentationFormat>Widescreen</PresentationFormat>
  <Paragraphs>178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dc:description>generated using python-pptx</dc:description>
  <cp:lastModifiedBy>USER</cp:lastModifiedBy>
  <cp:revision>7</cp:revision>
  <dcterms:created xsi:type="dcterms:W3CDTF">2013-01-27T09:14:16Z</dcterms:created>
  <dcterms:modified xsi:type="dcterms:W3CDTF">2026-08-13T17:04:55Z</dcterms:modified>
</cp:coreProperties>
</file>